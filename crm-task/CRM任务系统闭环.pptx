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6400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00000"/>
                </a:solidFill>
                <a:latin typeface="SimSun"/>
              </a:rPr>
              <a:t>CRM任务系统闭环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5587" y="1353312"/>
            <a:ext cx="4160520" cy="4160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1417320"/>
            <a:ext cx="2788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6AABE8"/>
                </a:solidFill>
                <a:latin typeface="Microsoft YaHei"/>
              </a:rPr>
              <a:t>01 发布任务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555555"/>
                </a:solidFill>
                <a:latin typeface="Microsoft YaHei"/>
              </a:rPr>
              <a:t>明确工作计划,待办与日程同步</a:t>
            </a:r>
          </a:p>
        </p:txBody>
      </p:sp>
      <p:sp>
        <p:nvSpPr>
          <p:cNvPr id="5" name="Rectangle 4"/>
          <p:cNvSpPr/>
          <p:nvPr/>
        </p:nvSpPr>
        <p:spPr>
          <a:xfrm>
            <a:off x="3369564" y="1568196"/>
            <a:ext cx="64008" cy="64008"/>
          </a:xfrm>
          <a:prstGeom prst="rect">
            <a:avLst/>
          </a:prstGeom>
          <a:solidFill>
            <a:srgbClr val="6AA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438144" y="1632204"/>
            <a:ext cx="1725015" cy="0"/>
          </a:xfrm>
          <a:prstGeom prst="line">
            <a:avLst/>
          </a:prstGeom>
          <a:ln w="9525">
            <a:prstDash val="sysDot"/>
            <a:solidFill>
              <a:srgbClr val="6AAB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3063240"/>
            <a:ext cx="2788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07878"/>
                </a:solidFill>
                <a:latin typeface="Microsoft YaHei"/>
              </a:rPr>
              <a:t>06 数据看板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555555"/>
                </a:solidFill>
                <a:latin typeface="Microsoft YaHei"/>
              </a:rPr>
              <a:t>任务、出勤、绩效、拜访转化数据</a:t>
            </a:r>
          </a:p>
        </p:txBody>
      </p:sp>
      <p:sp>
        <p:nvSpPr>
          <p:cNvPr id="8" name="Rectangle 7"/>
          <p:cNvSpPr/>
          <p:nvPr/>
        </p:nvSpPr>
        <p:spPr>
          <a:xfrm>
            <a:off x="3369564" y="3214116"/>
            <a:ext cx="64008" cy="64008"/>
          </a:xfrm>
          <a:prstGeom prst="rect">
            <a:avLst/>
          </a:prstGeom>
          <a:solidFill>
            <a:srgbClr val="F0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3438144" y="3278124"/>
            <a:ext cx="1725015" cy="0"/>
          </a:xfrm>
          <a:prstGeom prst="line">
            <a:avLst/>
          </a:prstGeom>
          <a:ln w="9525">
            <a:prstDash val="sysDot"/>
            <a:solidFill>
              <a:srgbClr val="F0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4709160"/>
            <a:ext cx="2788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4ECDC4"/>
                </a:solidFill>
                <a:latin typeface="Microsoft YaHei"/>
              </a:rPr>
              <a:t>05 日报复盘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555555"/>
                </a:solidFill>
                <a:latin typeface="Microsoft YaHei"/>
              </a:rPr>
              <a:t>当日工作汇总,持续改善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9564" y="4860036"/>
            <a:ext cx="64008" cy="64008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438144" y="4924044"/>
            <a:ext cx="1725015" cy="0"/>
          </a:xfrm>
          <a:prstGeom prst="line">
            <a:avLst/>
          </a:prstGeom>
          <a:ln w="9525">
            <a:prstDash val="sysDot"/>
            <a:solidFill>
              <a:srgbClr val="4ECD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915400" y="1417320"/>
            <a:ext cx="2788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08C45"/>
                </a:solidFill>
                <a:latin typeface="Microsoft YaHei"/>
              </a:rPr>
              <a:t>02 客户拜访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555555"/>
                </a:solidFill>
                <a:latin typeface="Microsoft YaHei"/>
              </a:rPr>
              <a:t>客户标签、素材库、陪访、里程申诉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27948" y="1568196"/>
            <a:ext cx="64008" cy="64008"/>
          </a:xfrm>
          <a:prstGeom prst="rect">
            <a:avLst/>
          </a:prstGeom>
          <a:solidFill>
            <a:srgbClr val="F08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H="1">
            <a:off x="7028535" y="1632204"/>
            <a:ext cx="1694841" cy="0"/>
          </a:xfrm>
          <a:prstGeom prst="line">
            <a:avLst/>
          </a:prstGeom>
          <a:ln w="9525">
            <a:prstDash val="sysDot"/>
            <a:solidFill>
              <a:srgbClr val="F08C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915400" y="3063240"/>
            <a:ext cx="2788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5C842"/>
                </a:solidFill>
                <a:latin typeface="Microsoft YaHei"/>
              </a:rPr>
              <a:t>03 更新客户档案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555555"/>
                </a:solidFill>
                <a:latin typeface="Microsoft YaHei"/>
              </a:rPr>
              <a:t>档案信息线上化,完善客户画像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27948" y="3214116"/>
            <a:ext cx="64008" cy="64008"/>
          </a:xfrm>
          <a:prstGeom prst="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H="1">
            <a:off x="7028535" y="3278124"/>
            <a:ext cx="1694841" cy="0"/>
          </a:xfrm>
          <a:prstGeom prst="line">
            <a:avLst/>
          </a:prstGeom>
          <a:ln w="9525">
            <a:prstDash val="sysDot"/>
            <a:solidFill>
              <a:srgbClr val="F5C8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915400" y="4709160"/>
            <a:ext cx="2788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8BC34A"/>
                </a:solidFill>
                <a:latin typeface="Microsoft YaHei"/>
              </a:rPr>
              <a:t>04 机会点跟进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555555"/>
                </a:solidFill>
                <a:latin typeface="Microsoft YaHei"/>
              </a:rPr>
              <a:t>挖掘潜在价值,精准推送服务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27948" y="4860036"/>
            <a:ext cx="64008" cy="64008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H="1">
            <a:off x="7028535" y="4924044"/>
            <a:ext cx="1694841" cy="0"/>
          </a:xfrm>
          <a:prstGeom prst="line">
            <a:avLst/>
          </a:prstGeom>
          <a:ln w="9525">
            <a:prstDash val="sysDot"/>
            <a:solidFill>
              <a:srgbClr val="8BC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